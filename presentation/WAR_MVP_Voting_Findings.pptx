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>
        <c:manualLayout>
          <c:layoutTarget val="inner"/>
          <c:xMode val="edge"/>
          <c:yMode val="edge"/>
          <c:x val="3.9703369356337802E-2"/>
          <c:y val="1.6144231971003623E-2"/>
          <c:w val="0.93319635602665696"/>
          <c:h val="0.89942902970462024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WAR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1980–2007</c:v>
                </c:pt>
                <c:pt idx="1">
                  <c:v>2008–2012</c:v>
                </c:pt>
                <c:pt idx="2">
                  <c:v>2013–2025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0.441</c:v>
                </c:pt>
                <c:pt idx="1">
                  <c:v>0.45200000000000001</c:v>
                </c:pt>
                <c:pt idx="2">
                  <c:v>0.68100000000000005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1C-4994-BFB9-50A185098F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HR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1980–2007</c:v>
                </c:pt>
                <c:pt idx="1">
                  <c:v>2008–2012</c:v>
                </c:pt>
                <c:pt idx="2">
                  <c:v>2013–2025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0.43099999999999999</c:v>
                </c:pt>
                <c:pt idx="1">
                  <c:v>0.39900000000000002</c:v>
                </c:pt>
                <c:pt idx="2">
                  <c:v>0.433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1C-4994-BFB9-50A185098FA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RBI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1980–2007</c:v>
                </c:pt>
                <c:pt idx="1">
                  <c:v>2008–2012</c:v>
                </c:pt>
                <c:pt idx="2">
                  <c:v>2013–2025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0.373</c:v>
                </c:pt>
                <c:pt idx="1">
                  <c:v>0.371</c:v>
                </c:pt>
                <c:pt idx="2">
                  <c:v>0.34699999999999998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D1C-4994-BFB9-50A185098FA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1980–2007</c:v>
                </c:pt>
                <c:pt idx="1">
                  <c:v>2008–2012</c:v>
                </c:pt>
                <c:pt idx="2">
                  <c:v>2013–2025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0.26300000000000001</c:v>
                </c:pt>
                <c:pt idx="1">
                  <c:v>0.251</c:v>
                </c:pt>
                <c:pt idx="2">
                  <c:v>0.29399999999999998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D1C-4994-BFB9-50A185098FA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OPS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1980–2007</c:v>
                </c:pt>
                <c:pt idx="1">
                  <c:v>2008–2012</c:v>
                </c:pt>
                <c:pt idx="2">
                  <c:v>2013–2025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0.39500000000000002</c:v>
                </c:pt>
                <c:pt idx="1">
                  <c:v>0.312</c:v>
                </c:pt>
                <c:pt idx="2">
                  <c:v>0.47899999999999998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1C-4994-BFB9-50A185098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23928408863123474"/>
          <c:y val="2.4457151189434655E-2"/>
          <c:w val="0.46723114013602685"/>
          <c:h val="7.3426446694163233E-2"/>
        </c:manualLayout>
      </c:layout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WAR gap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1980–2007</c:v>
                </c:pt>
                <c:pt idx="1">
                  <c:v>2008–2012</c:v>
                </c:pt>
                <c:pt idx="2">
                  <c:v>2013–2025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1.91</c:v>
                </c:pt>
                <c:pt idx="1">
                  <c:v>0.86</c:v>
                </c:pt>
                <c:pt idx="2">
                  <c:v>0.46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7E-4E79-8EE2-5DC666CAA5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.2000000000000002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Has WAR Changed MLB MVP Voting?</a:t>
            </a:r>
          </a:p>
          <a:p>
            <a:pPr>
              <a:spcBef>
                <a:spcPts val="800"/>
              </a:spcBef>
              <a:defRPr sz="2200">
                <a:solidFill>
                  <a:srgbClr val="D2E1F0"/>
                </a:solidFill>
              </a:defRPr>
            </a:pPr>
            <a:r>
              <a:t>A preliminary analysis of MVP voting from 1980–2025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3154680"/>
            <a:ext cx="1828800" cy="73152"/>
          </a:xfrm>
          <a:prstGeom prst="rect">
            <a:avLst/>
          </a:prstGeom>
          <a:solidFill>
            <a:srgbClr val="C59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342900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Tucker Bright  |  Applied Statistics  |  Purdue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A4C"/>
                </a:solidFill>
              </a:defRPr>
            </a:pPr>
            <a: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88A"/>
                </a:solidFill>
              </a:defRPr>
            </a:pPr>
            <a:r>
              <a:t>Testing whether MVP results have become more aligned with comprehensive player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59" y="1534746"/>
            <a:ext cx="10515600" cy="1325880"/>
          </a:xfrm>
          <a:prstGeom prst="roundRect">
            <a:avLst/>
          </a:prstGeom>
          <a:solidFill>
            <a:srgbClr val="E1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9800" y="1828800"/>
            <a:ext cx="9581918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32A4C"/>
                </a:solidFill>
              </a:defRPr>
            </a:pPr>
            <a:r>
              <a:rPr lang="en-US" sz="3400" b="1" dirty="0">
                <a:solidFill>
                  <a:srgbClr val="132A4C"/>
                </a:solidFill>
              </a:rPr>
              <a:t>How has the rise of WAR changed MLB MVP voting</a:t>
            </a:r>
            <a:r>
              <a:rPr sz="3400" dirty="0"/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C2128"/>
                </a:solidFill>
              </a:defRPr>
            </a:pPr>
            <a:r>
              <a:t>• Hypothesis: as WAR became more prominent in baseball analysis, MVP voting became more consistent with WAR.</a:t>
            </a:r>
          </a:p>
          <a:p>
            <a:pPr>
              <a:spcAft>
                <a:spcPts val="1400"/>
              </a:spcAft>
              <a:defRPr sz="1900">
                <a:solidFill>
                  <a:srgbClr val="1C2128"/>
                </a:solidFill>
              </a:defRPr>
            </a:pPr>
            <a:r>
              <a:t>• Important limitation: the analysis can show alignment over time, but it cannot by itself prove that WAR caused voters to change.</a:t>
            </a:r>
          </a:p>
          <a:p>
            <a:pPr>
              <a:spcAft>
                <a:spcPts val="1400"/>
              </a:spcAft>
              <a:defRPr sz="1900">
                <a:solidFill>
                  <a:srgbClr val="1C2128"/>
                </a:solidFill>
              </a:defRPr>
            </a:pPr>
            <a:r>
              <a:t>• 2020 is excluded from season-comparison analyses because the MLB regular season was shortened.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1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88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A4C"/>
                </a:solidFill>
              </a:defRPr>
            </a:pPr>
            <a:r>
              <a:t>Data and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24231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E1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81912"/>
            <a:ext cx="21488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75C91"/>
                </a:solidFill>
              </a:defRPr>
            </a:pPr>
            <a:r>
              <a:t>1980–2025</a:t>
            </a:r>
          </a:p>
          <a:p>
            <a:pPr algn="ctr">
              <a:defRPr sz="1300">
                <a:solidFill>
                  <a:srgbClr val="1C2128"/>
                </a:solidFill>
              </a:defRPr>
            </a:pPr>
            <a:r>
              <a:t>MVP voting seasons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17320"/>
            <a:ext cx="24231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E1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66160" y="1581912"/>
            <a:ext cx="21488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75C91"/>
                </a:solidFill>
              </a:defRPr>
            </a:pPr>
            <a:r>
              <a:t>AL + NL</a:t>
            </a:r>
          </a:p>
          <a:p>
            <a:pPr algn="ctr">
              <a:defRPr sz="1300">
                <a:solidFill>
                  <a:srgbClr val="1C2128"/>
                </a:solidFill>
              </a:defRPr>
            </a:pPr>
            <a:r>
              <a:t>Separate league races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417320"/>
            <a:ext cx="24231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E1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1581912"/>
            <a:ext cx="21488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75C91"/>
                </a:solidFill>
              </a:defRPr>
            </a:pPr>
            <a:r>
              <a:t>Vote Share</a:t>
            </a:r>
          </a:p>
          <a:p>
            <a:pPr algn="ctr">
              <a:defRPr sz="1300">
                <a:solidFill>
                  <a:srgbClr val="1C2128"/>
                </a:solidFill>
              </a:defRPr>
            </a:pPr>
            <a:r>
              <a:t>Voting outcome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1417320"/>
            <a:ext cx="24231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E1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0" y="1581912"/>
            <a:ext cx="21488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75C91"/>
                </a:solidFill>
              </a:defRPr>
            </a:pPr>
            <a:r>
              <a:t>WAR + 4</a:t>
            </a:r>
          </a:p>
          <a:p>
            <a:pPr algn="ctr">
              <a:defRPr sz="1300">
                <a:solidFill>
                  <a:srgbClr val="1C2128"/>
                </a:solidFill>
              </a:defRPr>
            </a:pPr>
            <a:r>
              <a:t>WAR, HR, RBI, BA, 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C2128"/>
                </a:solidFill>
              </a:defRPr>
            </a:pPr>
            <a:r>
              <a:t>• Historical MVP voting tables were collected into one player-level dataset.</a:t>
            </a:r>
          </a:p>
          <a:p>
            <a:pPr>
              <a:spcAft>
                <a:spcPts val="1400"/>
              </a:spcAft>
              <a:defRPr sz="1900">
                <a:solidFill>
                  <a:srgbClr val="1C2128"/>
                </a:solidFill>
              </a:defRPr>
            </a:pPr>
            <a:r>
              <a:t>• For each league-season, I calculated the correlation between each statistic and MVP vote share.</a:t>
            </a:r>
          </a:p>
          <a:p>
            <a:pPr>
              <a:spcAft>
                <a:spcPts val="1400"/>
              </a:spcAft>
              <a:defRPr sz="1900">
                <a:solidFill>
                  <a:srgbClr val="1C2128"/>
                </a:solidFill>
              </a:defRPr>
            </a:pPr>
            <a:r>
              <a:t>• I also compared the MVP winner's WAR with the highest WAR among players receiving MVP votes.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1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0" y="656539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88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1651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A4C"/>
                </a:solidFill>
              </a:defRPr>
            </a:pPr>
            <a:r>
              <a:rPr dirty="0"/>
              <a:t>WAR alignment rises sharply in the modern 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4591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88A"/>
                </a:solidFill>
              </a:defRPr>
            </a:pPr>
            <a:r>
              <a:rPr dirty="0"/>
              <a:t>5-year rolling average of within-race correlations with MVP vote share</a:t>
            </a:r>
          </a:p>
        </p:txBody>
      </p:sp>
      <p:pic>
        <p:nvPicPr>
          <p:cNvPr id="5" name="Picture 4" descr="MVP voting statistics over 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1003382"/>
            <a:ext cx="10134799" cy="5911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56539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88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66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A4C"/>
                </a:solidFill>
              </a:defRPr>
            </a:pPr>
            <a:r>
              <a:t>Era comparison: WAR shows the largest shift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109882"/>
              </p:ext>
            </p:extLst>
          </p:nvPr>
        </p:nvGraphicFramePr>
        <p:xfrm>
          <a:off x="731520" y="1325880"/>
          <a:ext cx="7498079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549640" y="1554480"/>
            <a:ext cx="27889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E1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0" y="1719072"/>
            <a:ext cx="251460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75C91"/>
                </a:solidFill>
              </a:defRPr>
            </a:pPr>
            <a:r>
              <a:t>0.441 → 0.681</a:t>
            </a:r>
          </a:p>
          <a:p>
            <a:pPr algn="ctr">
              <a:defRPr sz="1300">
                <a:solidFill>
                  <a:srgbClr val="1C2128"/>
                </a:solidFill>
              </a:defRPr>
            </a:pPr>
            <a:r>
              <a:t>WAR / vote-share correlation</a:t>
            </a:r>
          </a:p>
          <a:p>
            <a:pPr algn="ctr">
              <a:defRPr sz="900">
                <a:solidFill>
                  <a:srgbClr val="69788A"/>
                </a:solidFill>
              </a:defRPr>
            </a:pPr>
            <a:r>
              <a:t>Pre-2008 to 2013–2025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32461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C2128"/>
                </a:solidFill>
              </a:defRPr>
            </a:pPr>
            <a:r>
              <a:t>• HR is nearly unchanged overall.</a:t>
            </a:r>
          </a:p>
          <a:p>
            <a:pPr>
              <a:spcAft>
                <a:spcPts val="1400"/>
              </a:spcAft>
              <a:defRPr sz="1400">
                <a:solidFill>
                  <a:srgbClr val="1C2128"/>
                </a:solidFill>
              </a:defRPr>
            </a:pPr>
            <a:r>
              <a:t>• RBI and BA show little long-run movement.</a:t>
            </a:r>
          </a:p>
          <a:p>
            <a:pPr>
              <a:spcAft>
                <a:spcPts val="1400"/>
              </a:spcAft>
              <a:defRPr sz="1400">
                <a:solidFill>
                  <a:srgbClr val="1C2128"/>
                </a:solidFill>
              </a:defRPr>
            </a:pPr>
            <a:r>
              <a:t>• OPS also rises in the modern era, suggesting a broader shift toward comprehensive performance measures.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1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88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A4C"/>
                </a:solidFill>
              </a:defRPr>
            </a:pPr>
            <a:r>
              <a:t>MVP winners are much closer to the WAR leader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417320"/>
          <a:ext cx="59436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178040" y="1554480"/>
            <a:ext cx="1828800" cy="1371600"/>
          </a:xfrm>
          <a:prstGeom prst="roundRect">
            <a:avLst/>
          </a:prstGeom>
          <a:solidFill>
            <a:srgbClr val="F2F6FA"/>
          </a:solidFill>
          <a:ln>
            <a:solidFill>
              <a:srgbClr val="E1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0" y="1719072"/>
            <a:ext cx="15544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75C91"/>
                </a:solidFill>
              </a:defRPr>
            </a:pPr>
            <a:r>
              <a:t>28.6%</a:t>
            </a:r>
          </a:p>
          <a:p>
            <a:pPr algn="ctr">
              <a:defRPr sz="1300">
                <a:solidFill>
                  <a:srgbClr val="1C2128"/>
                </a:solidFill>
              </a:defRPr>
            </a:pPr>
            <a:r>
              <a:t>1980–2007</a:t>
            </a:r>
          </a:p>
          <a:p>
            <a:pPr algn="ctr">
              <a:defRPr sz="900">
                <a:solidFill>
                  <a:srgbClr val="69788A"/>
                </a:solidFill>
              </a:defRPr>
            </a:pPr>
            <a:r>
              <a:t>MVP had highest WAR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554480"/>
            <a:ext cx="1828800" cy="1371600"/>
          </a:xfrm>
          <a:prstGeom prst="roundRect">
            <a:avLst/>
          </a:prstGeom>
          <a:solidFill>
            <a:srgbClr val="F2F6FA"/>
          </a:solidFill>
          <a:ln>
            <a:solidFill>
              <a:srgbClr val="E1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72600" y="1719072"/>
            <a:ext cx="15544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75C91"/>
                </a:solidFill>
              </a:defRPr>
            </a:pPr>
            <a:r>
              <a:t>58.3%</a:t>
            </a:r>
          </a:p>
          <a:p>
            <a:pPr algn="ctr">
              <a:defRPr sz="1300">
                <a:solidFill>
                  <a:srgbClr val="1C2128"/>
                </a:solidFill>
              </a:defRPr>
            </a:pPr>
            <a:r>
              <a:t>2013–2025</a:t>
            </a:r>
          </a:p>
          <a:p>
            <a:pPr algn="ctr">
              <a:defRPr sz="900">
                <a:solidFill>
                  <a:srgbClr val="69788A"/>
                </a:solidFill>
              </a:defRPr>
            </a:pPr>
            <a:r>
              <a:t>MVP had highest WAR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3337560"/>
            <a:ext cx="3886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C2128"/>
                </a:solidFill>
              </a:defRPr>
            </a:pPr>
            <a:r>
              <a:t>• Average MVP-to-highest-WAR gap fell from 1.91 WAR to 0.46 WAR.</a:t>
            </a:r>
          </a:p>
          <a:p>
            <a:pPr>
              <a:spcAft>
                <a:spcPts val="1400"/>
              </a:spcAft>
              <a:defRPr sz="1600">
                <a:solidFill>
                  <a:srgbClr val="1C2128"/>
                </a:solidFill>
              </a:defRPr>
            </a:pPr>
            <a:r>
              <a:t>• Modern voters do not always select the WAR leader, but their winner is usually much closer in WAR.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1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0" y="656539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88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A4C"/>
                </a:solidFill>
              </a:defRPr>
            </a:pPr>
            <a:r>
              <a:t>Historical races show how large the gaps once were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883839"/>
              </p:ext>
            </p:extLst>
          </p:nvPr>
        </p:nvGraphicFramePr>
        <p:xfrm>
          <a:off x="594360" y="1218905"/>
          <a:ext cx="9975318" cy="4090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7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8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66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08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18103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Race</a:t>
                      </a:r>
                    </a:p>
                  </a:txBody>
                  <a:tcPr marL="54864" marR="54864"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MVP winner</a:t>
                      </a:r>
                    </a:p>
                  </a:txBody>
                  <a:tcPr marL="54864" marR="54864"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WAR</a:t>
                      </a:r>
                    </a:p>
                  </a:txBody>
                  <a:tcPr marL="54864" marR="54864"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Highest-WAR vote-getter</a:t>
                      </a:r>
                    </a:p>
                  </a:txBody>
                  <a:tcPr marL="54864" marR="54864"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WAR</a:t>
                      </a:r>
                    </a:p>
                  </a:txBody>
                  <a:tcPr marL="54864" marR="54864"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 marL="54864" marR="54864">
                    <a:solidFill>
                      <a:srgbClr val="132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810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128"/>
                          </a:solidFill>
                        </a:defRPr>
                      </a:pPr>
                      <a:r>
                        <a:t>1996 AL</a:t>
                      </a:r>
                    </a:p>
                  </a:txBody>
                  <a:tcPr marL="54864" marR="54864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128"/>
                          </a:solidFill>
                        </a:defRPr>
                      </a:pPr>
                      <a:r>
                        <a:t>Juan González</a:t>
                      </a:r>
                    </a:p>
                  </a:txBody>
                  <a:tcPr marL="54864" marR="54864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128"/>
                          </a:solidFill>
                        </a:defRPr>
                      </a:pPr>
                      <a:r>
                        <a:t>3.8</a:t>
                      </a:r>
                    </a:p>
                  </a:txBody>
                  <a:tcPr marL="54864" marR="54864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128"/>
                          </a:solidFill>
                        </a:defRPr>
                      </a:pPr>
                      <a:r>
                        <a:t>Ken Griffey Jr.</a:t>
                      </a:r>
                    </a:p>
                  </a:txBody>
                  <a:tcPr marL="54864" marR="54864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128"/>
                          </a:solidFill>
                        </a:defRPr>
                      </a:pPr>
                      <a:r>
                        <a:t>9.7</a:t>
                      </a:r>
                    </a:p>
                  </a:txBody>
                  <a:tcPr marL="54864" marR="54864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128"/>
                          </a:solidFill>
                        </a:defRPr>
                      </a:pPr>
                      <a:r>
                        <a:t>5.9</a:t>
                      </a:r>
                    </a:p>
                  </a:txBody>
                  <a:tcPr marL="54864" marR="54864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810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128"/>
                          </a:solidFill>
                        </a:defRPr>
                      </a:pPr>
                      <a:r>
                        <a:t>1987 NL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128"/>
                          </a:solidFill>
                        </a:defRPr>
                      </a:pPr>
                      <a:r>
                        <a:t>Andre Dawson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128"/>
                          </a:solidFill>
                        </a:defRPr>
                      </a:pPr>
                      <a:r>
                        <a:t>4.0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128"/>
                          </a:solidFill>
                        </a:defRPr>
                      </a:pPr>
                      <a:r>
                        <a:rPr dirty="0"/>
                        <a:t>Tony Gwynn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128"/>
                          </a:solidFill>
                        </a:defRPr>
                      </a:pPr>
                      <a:r>
                        <a:t>8.6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128"/>
                          </a:solidFill>
                        </a:defRPr>
                      </a:pPr>
                      <a:r>
                        <a:t>4.6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810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128"/>
                          </a:solidFill>
                        </a:defRPr>
                      </a:pPr>
                      <a:r>
                        <a:t>1998 AL</a:t>
                      </a:r>
                    </a:p>
                  </a:txBody>
                  <a:tcPr marL="54864" marR="54864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128"/>
                          </a:solidFill>
                        </a:defRPr>
                      </a:pPr>
                      <a:r>
                        <a:t>Juan González</a:t>
                      </a:r>
                    </a:p>
                  </a:txBody>
                  <a:tcPr marL="54864" marR="54864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128"/>
                          </a:solidFill>
                        </a:defRPr>
                      </a:pPr>
                      <a:r>
                        <a:t>4.9</a:t>
                      </a:r>
                    </a:p>
                  </a:txBody>
                  <a:tcPr marL="54864" marR="54864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128"/>
                          </a:solidFill>
                        </a:defRPr>
                      </a:pPr>
                      <a:r>
                        <a:t>Alex Rodriguez</a:t>
                      </a:r>
                    </a:p>
                  </a:txBody>
                  <a:tcPr marL="54864" marR="54864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128"/>
                          </a:solidFill>
                        </a:defRPr>
                      </a:pPr>
                      <a:r>
                        <a:t>8.5</a:t>
                      </a:r>
                    </a:p>
                  </a:txBody>
                  <a:tcPr marL="54864" marR="54864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128"/>
                          </a:solidFill>
                        </a:defRPr>
                      </a:pPr>
                      <a:r>
                        <a:t>3.6</a:t>
                      </a:r>
                    </a:p>
                  </a:txBody>
                  <a:tcPr marL="54864" marR="54864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810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128"/>
                          </a:solidFill>
                        </a:defRPr>
                      </a:pPr>
                      <a:r>
                        <a:t>2012 AL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128"/>
                          </a:solidFill>
                        </a:defRPr>
                      </a:pPr>
                      <a:r>
                        <a:t>Miguel Cabrera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128"/>
                          </a:solidFill>
                        </a:defRPr>
                      </a:pPr>
                      <a:r>
                        <a:t>7.1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128"/>
                          </a:solidFill>
                        </a:defRPr>
                      </a:pPr>
                      <a:r>
                        <a:t>Mike Trout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128"/>
                          </a:solidFill>
                        </a:defRPr>
                      </a:pPr>
                      <a:r>
                        <a:t>10.5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128"/>
                          </a:solidFill>
                        </a:defRPr>
                      </a:pPr>
                      <a:r>
                        <a:rPr dirty="0"/>
                        <a:t>3.4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108068"/>
            <a:ext cx="8480814" cy="1149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1900">
                <a:solidFill>
                  <a:srgbClr val="1C2128"/>
                </a:solidFill>
              </a:defRPr>
            </a:pPr>
            <a:r>
              <a:rPr dirty="0"/>
              <a:t>All 15 largest WAR gaps in the current analysis occurred by 2012.</a:t>
            </a:r>
            <a:endParaRPr lang="en-US" dirty="0"/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1900">
                <a:solidFill>
                  <a:srgbClr val="1C2128"/>
                </a:solidFill>
              </a:defRPr>
            </a:pPr>
            <a:r>
              <a:rPr lang="en-US" dirty="0"/>
              <a:t>2012 is a notable outlier: </a:t>
            </a:r>
            <a:r>
              <a:rPr lang="en-US" sz="1900" dirty="0">
                <a:solidFill>
                  <a:srgbClr val="1C2128"/>
                </a:solidFill>
              </a:rPr>
              <a:t>Miguel Cabrera won the Triple Crown, an exceptionally rare achievement that provided important context surrounding the MVP vote.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1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88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A4C"/>
                </a:solidFill>
              </a:defRPr>
            </a:pPr>
            <a:r>
              <a:t>Preliminary conclusion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394960" cy="4480560"/>
          </a:xfrm>
          <a:prstGeom prst="roundRect">
            <a:avLst/>
          </a:prstGeom>
          <a:solidFill>
            <a:srgbClr val="E1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7084" y="1893964"/>
            <a:ext cx="5044779" cy="30700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32A4C"/>
                </a:solidFill>
              </a:defRPr>
            </a:pPr>
            <a:r>
              <a:rPr dirty="0"/>
              <a:t>What the data suggest</a:t>
            </a:r>
            <a:r>
              <a:rPr lang="en-US" dirty="0"/>
              <a:t>s</a:t>
            </a:r>
            <a:endParaRPr dirty="0"/>
          </a:p>
          <a:p>
            <a:pPr>
              <a:spcBef>
                <a:spcPts val="900"/>
              </a:spcBef>
              <a:defRPr sz="1700">
                <a:solidFill>
                  <a:srgbClr val="1C2128"/>
                </a:solidFill>
              </a:defRPr>
            </a:pPr>
            <a:r>
              <a:rPr dirty="0"/>
              <a:t>• MVP voting has become substantially more aligned </a:t>
            </a:r>
            <a:endParaRPr lang="en-US" dirty="0"/>
          </a:p>
          <a:p>
            <a:pPr>
              <a:spcBef>
                <a:spcPts val="900"/>
              </a:spcBef>
              <a:defRPr sz="1700">
                <a:solidFill>
                  <a:srgbClr val="1C2128"/>
                </a:solidFill>
              </a:defRPr>
            </a:pPr>
            <a:r>
              <a:rPr lang="en-US" dirty="0"/>
              <a:t>   </a:t>
            </a:r>
            <a:r>
              <a:rPr dirty="0"/>
              <a:t>with WAR.</a:t>
            </a:r>
          </a:p>
          <a:p>
            <a:pPr>
              <a:spcBef>
                <a:spcPts val="900"/>
              </a:spcBef>
              <a:defRPr sz="1700">
                <a:solidFill>
                  <a:srgbClr val="1C2128"/>
                </a:solidFill>
              </a:defRPr>
            </a:pPr>
            <a:r>
              <a:rPr dirty="0"/>
              <a:t>• The strongest shift appears after the early 2010s.</a:t>
            </a:r>
          </a:p>
          <a:p>
            <a:pPr>
              <a:spcBef>
                <a:spcPts val="900"/>
              </a:spcBef>
              <a:defRPr sz="1700">
                <a:solidFill>
                  <a:srgbClr val="1C2128"/>
                </a:solidFill>
              </a:defRPr>
            </a:pPr>
            <a:r>
              <a:rPr dirty="0"/>
              <a:t>• Traditional stats such as HR, RBI, and BA do not show</a:t>
            </a:r>
            <a:endParaRPr lang="en-US" dirty="0"/>
          </a:p>
          <a:p>
            <a:pPr>
              <a:spcBef>
                <a:spcPts val="900"/>
              </a:spcBef>
              <a:defRPr sz="1700">
                <a:solidFill>
                  <a:srgbClr val="1C2128"/>
                </a:solidFill>
              </a:defRPr>
            </a:pPr>
            <a:r>
              <a:rPr dirty="0"/>
              <a:t> </a:t>
            </a:r>
            <a:r>
              <a:rPr lang="en-US" dirty="0"/>
              <a:t>  </a:t>
            </a:r>
            <a:r>
              <a:rPr dirty="0"/>
              <a:t>a comparable increase.</a:t>
            </a:r>
          </a:p>
          <a:p>
            <a:pPr>
              <a:spcBef>
                <a:spcPts val="900"/>
              </a:spcBef>
              <a:defRPr sz="1700">
                <a:solidFill>
                  <a:srgbClr val="1C2128"/>
                </a:solidFill>
              </a:defRPr>
            </a:pPr>
            <a:r>
              <a:rPr dirty="0"/>
              <a:t>• These patterns show association, not proof that WAR</a:t>
            </a:r>
            <a:endParaRPr lang="en-US" dirty="0"/>
          </a:p>
          <a:p>
            <a:pPr>
              <a:spcBef>
                <a:spcPts val="900"/>
              </a:spcBef>
              <a:defRPr sz="1700">
                <a:solidFill>
                  <a:srgbClr val="1C2128"/>
                </a:solidFill>
              </a:defRPr>
            </a:pPr>
            <a:r>
              <a:rPr lang="en-US" dirty="0"/>
              <a:t>   </a:t>
            </a:r>
            <a:r>
              <a:rPr dirty="0"/>
              <a:t>caused the change.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371600"/>
            <a:ext cx="5120640" cy="4480560"/>
          </a:xfrm>
          <a:prstGeom prst="roundRect">
            <a:avLst/>
          </a:prstGeom>
          <a:solidFill>
            <a:srgbClr val="F2F6FA"/>
          </a:solidFill>
          <a:ln>
            <a:solidFill>
              <a:srgbClr val="E1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67642" y="1893963"/>
            <a:ext cx="4695516" cy="30700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32A4C"/>
                </a:solidFill>
              </a:defRPr>
            </a:pPr>
            <a:r>
              <a:rPr dirty="0"/>
              <a:t>Next steps</a:t>
            </a:r>
          </a:p>
          <a:p>
            <a:pPr>
              <a:spcBef>
                <a:spcPts val="900"/>
              </a:spcBef>
              <a:defRPr sz="1700">
                <a:solidFill>
                  <a:srgbClr val="1C2128"/>
                </a:solidFill>
              </a:defRPr>
            </a:pPr>
            <a:r>
              <a:rPr lang="en-US" dirty="0"/>
              <a:t>•</a:t>
            </a:r>
            <a:r>
              <a:rPr dirty="0"/>
              <a:t> Repeat key analyses using position players only.</a:t>
            </a:r>
          </a:p>
          <a:p>
            <a:pPr>
              <a:spcBef>
                <a:spcPts val="900"/>
              </a:spcBef>
              <a:defRPr sz="1700">
                <a:solidFill>
                  <a:srgbClr val="1C2128"/>
                </a:solidFill>
              </a:defRPr>
            </a:pPr>
            <a:r>
              <a:rPr lang="en-US" dirty="0"/>
              <a:t>• </a:t>
            </a:r>
            <a:r>
              <a:rPr dirty="0"/>
              <a:t>Test whether era differences are statistically </a:t>
            </a:r>
            <a:endParaRPr lang="en-US" dirty="0"/>
          </a:p>
          <a:p>
            <a:pPr>
              <a:spcBef>
                <a:spcPts val="900"/>
              </a:spcBef>
              <a:defRPr sz="1700">
                <a:solidFill>
                  <a:srgbClr val="1C2128"/>
                </a:solidFill>
              </a:defRPr>
            </a:pPr>
            <a:r>
              <a:rPr lang="en-US" dirty="0"/>
              <a:t>   </a:t>
            </a:r>
            <a:r>
              <a:rPr dirty="0"/>
              <a:t>significant.</a:t>
            </a:r>
          </a:p>
          <a:p>
            <a:pPr>
              <a:spcBef>
                <a:spcPts val="900"/>
              </a:spcBef>
              <a:defRPr sz="1700">
                <a:solidFill>
                  <a:srgbClr val="1C2128"/>
                </a:solidFill>
              </a:defRPr>
            </a:pPr>
            <a:r>
              <a:rPr lang="en-US" dirty="0"/>
              <a:t>• </a:t>
            </a:r>
            <a:r>
              <a:rPr dirty="0"/>
              <a:t>Use full league WAR leaderboards, not only MVP </a:t>
            </a:r>
            <a:endParaRPr lang="en-US" dirty="0"/>
          </a:p>
          <a:p>
            <a:pPr>
              <a:spcBef>
                <a:spcPts val="900"/>
              </a:spcBef>
              <a:defRPr sz="1700">
                <a:solidFill>
                  <a:srgbClr val="1C2128"/>
                </a:solidFill>
              </a:defRPr>
            </a:pPr>
            <a:r>
              <a:rPr lang="en-US" dirty="0"/>
              <a:t>   </a:t>
            </a:r>
            <a:r>
              <a:rPr dirty="0"/>
              <a:t>vote-getters.</a:t>
            </a:r>
          </a:p>
          <a:p>
            <a:pPr>
              <a:spcBef>
                <a:spcPts val="900"/>
              </a:spcBef>
              <a:defRPr sz="1700">
                <a:solidFill>
                  <a:srgbClr val="1C2128"/>
                </a:solidFill>
              </a:defRPr>
            </a:pPr>
            <a:r>
              <a:rPr lang="en-US" dirty="0"/>
              <a:t>• </a:t>
            </a:r>
            <a:r>
              <a:rPr dirty="0"/>
              <a:t>Add historical context on when WAR became </a:t>
            </a:r>
            <a:endParaRPr lang="en-US" dirty="0"/>
          </a:p>
          <a:p>
            <a:pPr>
              <a:spcBef>
                <a:spcPts val="900"/>
              </a:spcBef>
              <a:defRPr sz="1700">
                <a:solidFill>
                  <a:srgbClr val="1C2128"/>
                </a:solidFill>
              </a:defRPr>
            </a:pPr>
            <a:r>
              <a:rPr lang="en-US" dirty="0"/>
              <a:t>   </a:t>
            </a:r>
            <a:r>
              <a:rPr dirty="0"/>
              <a:t>prominent in MVP discussion.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E1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88A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528</Words>
  <Application>Microsoft Office PowerPoint</Application>
  <PresentationFormat>Widescreen</PresentationFormat>
  <Paragraphs>97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Tucker Darwin Bright</cp:lastModifiedBy>
  <cp:revision>2</cp:revision>
  <dcterms:created xsi:type="dcterms:W3CDTF">2013-01-27T09:14:16Z</dcterms:created>
  <dcterms:modified xsi:type="dcterms:W3CDTF">2026-09-15T20:50:13Z</dcterms:modified>
  <cp:category/>
</cp:coreProperties>
</file>